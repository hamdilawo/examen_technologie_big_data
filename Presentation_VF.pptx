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65760"/>
            <a:ext cx="1097280" cy="10972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736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DAKAR INSTITUTE OF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8A"/>
                </a:solidFill>
                <a:latin typeface="Calibri"/>
              </a:rPr>
              <a:t>Master 2 — Intelligence Artificielle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4630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 Black"/>
              </a:rPr>
              <a:t>BOOKSHOP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B5E8"/>
                </a:solidFill>
                <a:latin typeface="Calibri"/>
              </a:rPr>
              <a:t>Plateforme Big Data — Pipeline Complet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291840"/>
            <a:ext cx="3959352" cy="4114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3337560"/>
            <a:ext cx="3959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A623"/>
                </a:solidFill>
                <a:latin typeface="Calibri"/>
              </a:rPr>
              <a:t>Examen — Technologie Big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B5E8"/>
                </a:solidFill>
                <a:latin typeface="Calibri"/>
              </a:rPr>
              <a:t>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9184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B5E8"/>
                </a:solidFill>
                <a:latin typeface="Calibri"/>
              </a:rPr>
              <a:t>Snowflake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94B"/>
                </a:solidFill>
                <a:latin typeface="Calibri"/>
              </a:rPr>
              <a:t>dbt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17CEE"/>
                </a:solidFill>
                <a:latin typeface="Calibri"/>
              </a:rPr>
              <a:t>Airflow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840480"/>
            <a:ext cx="1737360" cy="347472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38587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2C811"/>
                </a:solidFill>
                <a:latin typeface="Calibri"/>
              </a:rPr>
              <a:t>Power BI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34840"/>
            <a:ext cx="3474720" cy="12801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54864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8A"/>
                </a:solidFill>
                <a:latin typeface="Calibri"/>
              </a:rPr>
              <a:t>ETUDIANTS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Hamady Ngansou SABALY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20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Ousmane SOW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Doudou Malick FAYE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1688" y="4434840"/>
            <a:ext cx="3474720" cy="12801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61688" y="4434840"/>
            <a:ext cx="54864" cy="12801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44568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8A"/>
                </a:solidFill>
                <a:latin typeface="Calibri"/>
              </a:rPr>
              <a:t>ENSEIGNANT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4846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Patrick NGOUNE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57031" y="4434840"/>
            <a:ext cx="3474720" cy="12801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57031" y="4434840"/>
            <a:ext cx="54864" cy="128016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39912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8A"/>
                </a:solidFill>
                <a:latin typeface="Calibri"/>
              </a:rPr>
              <a:t>ANNEE ACADEMIQUE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4846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2025 — 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4D2211F7-2C9C-9C7F-4500-759F9BACC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" y="301752"/>
            <a:ext cx="1362456" cy="1179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Contexte &amp;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685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Une librairie senegalaise souhaite exploiter ses donnees de vente pour piloter son activite. L'objectif est de construire un pipeline Big Data end-to-end produisant des OBT (One Big Table) analytiques.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377440"/>
            <a:ext cx="219456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42316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201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id, intitule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51760" y="2377440"/>
            <a:ext cx="2194560" cy="3657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242316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34640"/>
            <a:ext cx="2011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id, code, intitule
isbn_10, isbn_13
category_id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0" y="2377440"/>
            <a:ext cx="2194560" cy="36576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2011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id, code
first_name, last_name
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0" y="2377440"/>
            <a:ext cx="2194560" cy="36576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42316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factures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834640"/>
            <a:ext cx="20116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id, code, vente_id
qte_totale, total_amount
total_paid, date_edit*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377440"/>
            <a:ext cx="2194560" cy="1828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784080" y="2377440"/>
            <a:ext cx="2194560" cy="36576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242316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ventes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834640"/>
            <a:ext cx="2011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id, book_id
customer_id, pu
qte, date_edit*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434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6B6B8A"/>
                </a:solidFill>
                <a:latin typeface="Calibri"/>
              </a:rPr>
              <a:t>* date_edit au format YYYYMMDD (varchar)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754880"/>
            <a:ext cx="1161288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4924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Categories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84632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34924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Livres senegalais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4632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34924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Clients actifs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84632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34924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Lignes de vente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46320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5 000 - 25 000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34924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FCFA par livre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4846320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5349240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Annee des donnees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Pipeline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1005840" cy="822960"/>
          </a:xfrm>
          <a:prstGeom prst="rect">
            <a:avLst/>
          </a:prstGeom>
          <a:solidFill>
            <a:srgbClr val="23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 Black"/>
              </a:rPr>
              <a:t>BD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828800" cy="320040"/>
          </a:xfrm>
          <a:prstGeom prst="rect">
            <a:avLst/>
          </a:prstGeom>
          <a:solidFill>
            <a:srgbClr val="23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31343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Base locale
bookshop_local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79" y="192024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371600"/>
            <a:ext cx="1005840" cy="822960"/>
          </a:xfrm>
          <a:prstGeom prst="rect">
            <a:avLst/>
          </a:prstGeom>
          <a:solidFill>
            <a:srgbClr val="3B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97480" y="1389888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 Black"/>
              </a:rPr>
              <a:t>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0" y="2286000"/>
            <a:ext cx="1828800" cy="320040"/>
          </a:xfrm>
          <a:prstGeom prst="rect">
            <a:avLst/>
          </a:prstGeom>
          <a:solidFill>
            <a:srgbClr val="3B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231343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697480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Pipeline
d'ingestion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92024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371600"/>
            <a:ext cx="1005840" cy="8229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1389888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 Black"/>
              </a:rPr>
              <a:t>SF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06240" y="2286000"/>
            <a:ext cx="1828800" cy="3200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231343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Snowflake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697480"/>
            <a:ext cx="1645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RAW
STAGGING
WAREHOUSE
MARTS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192024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371600"/>
            <a:ext cx="1005840" cy="82296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389888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 Black"/>
              </a:rPr>
              <a:t>dbt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2286000"/>
            <a:ext cx="1828800" cy="32004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231343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DBT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697480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14 modeles
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92024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1371600"/>
            <a:ext cx="1005840" cy="82296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1389888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 Black"/>
              </a:rPr>
              <a:t>AF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2286000"/>
            <a:ext cx="1828800" cy="32004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0" y="231343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Airflow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697480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DAG quotidien
06h00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192024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1371600"/>
            <a:ext cx="1005840" cy="82296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78440" y="1389888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Arial Black"/>
              </a:rPr>
              <a:t>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2286000"/>
            <a:ext cx="1828800" cy="16459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966960" y="2286000"/>
            <a:ext cx="1828800" cy="32004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66960" y="231343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Power BI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2697480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Dashboard
5 pages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06240"/>
            <a:ext cx="11612880" cy="23774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A623"/>
                </a:solidFill>
                <a:latin typeface="Calibri"/>
              </a:rPr>
              <a:t>Stack Technique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5488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9B5E8"/>
                </a:solidFill>
                <a:latin typeface="Calibri"/>
              </a:rPr>
              <a:t>Data Warehouse 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75488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Snowflake Cloud — 4 schemas : RAW, STAGGING, WAREHOUSE, MARTS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102352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9B5E8"/>
                </a:solidFill>
                <a:latin typeface="Calibri"/>
              </a:rPr>
              <a:t>Transformation 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10235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DBT Core 1.11 — 14 modeles SQL (stg_*, dim_*, fact_*, obt_*)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449824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9B5E8"/>
                </a:solidFill>
                <a:latin typeface="Calibri"/>
              </a:rPr>
              <a:t>Orchestration 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544982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Apache Airflow 2.9 — DAG bookshop_dbt_pipeline (Docker)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79729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9B5E8"/>
                </a:solidFill>
                <a:latin typeface="Calibri"/>
              </a:rPr>
              <a:t>Ingestion 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579729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Python + psycopg2 — PostgreSQL local vers Snowflake RAW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14476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9B5E8"/>
                </a:solidFill>
                <a:latin typeface="Calibri"/>
              </a:rPr>
              <a:t>Visualisation 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614476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Power BI Desktop — 5 pages connectees a Snowflake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9B5E8"/>
                </a:solidFill>
                <a:latin typeface="Calibri"/>
              </a:rPr>
              <a:t>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4 Couches de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51760" cy="4114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365760" y="1399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1F"/>
                </a:solidFill>
                <a:latin typeface="Arial Black"/>
              </a:rPr>
              <a:t>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3774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0F8"/>
                </a:solidFill>
                <a:latin typeface="Calibri"/>
              </a:rPr>
              <a:t>Donnees brutes
category
books
customers
ventes
factures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303520"/>
            <a:ext cx="2651760" cy="3200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65760" y="5321808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5D4A"/>
                </a:solidFill>
                <a:latin typeface="Calibri"/>
              </a:rPr>
              <a:t>5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1089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651760" cy="4114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3291840" y="1399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1F"/>
                </a:solidFill>
                <a:latin typeface="Arial Black"/>
              </a:rPr>
              <a:t>STAGGING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3774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0F8"/>
                </a:solidFill>
                <a:latin typeface="Calibri"/>
              </a:rPr>
              <a:t>Preparation
des donnees
stg_category
stg_books
stg_customers
stg_ventes
stg_factures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303520"/>
            <a:ext cx="2651760" cy="3200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3291840" y="5321808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5 vues stg_*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1089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651760" cy="4114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6217920" y="1399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1F"/>
                </a:solidFill>
                <a:latin typeface="Arial Black"/>
              </a:rPr>
              <a:t>WAREHOUSE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920240"/>
            <a:ext cx="23774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0F8"/>
                </a:solidFill>
                <a:latin typeface="Calibri"/>
              </a:rPr>
              <a:t>Dimensions
et Faits
dim_customers
dim_category
dim_books
fact_ventes
fact_factures
fact_books_*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303520"/>
            <a:ext cx="2651760" cy="3200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6217920" y="5321808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F0C4"/>
                </a:solidFill>
                <a:latin typeface="Calibri"/>
              </a:rPr>
              <a:t>3 dim_ + 5 fact_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108960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371600"/>
            <a:ext cx="2651760" cy="41148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Rectangle 28"/>
          <p:cNvSpPr/>
          <p:nvPr/>
        </p:nvSpPr>
        <p:spPr>
          <a:xfrm>
            <a:off x="9144000" y="1371600"/>
            <a:ext cx="2651760" cy="4572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9144000" y="1399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1F"/>
                </a:solidFill>
                <a:latin typeface="Arial Black"/>
              </a:rPr>
              <a:t>MARTS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1920240"/>
            <a:ext cx="23774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F0F8"/>
                </a:solidFill>
                <a:latin typeface="Calibri"/>
              </a:rPr>
              <a:t>One Big
Table
obt_sales
200 lignes
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5303520"/>
            <a:ext cx="2651760" cy="3200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9144000" y="5321808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B5E8"/>
                </a:solidFill>
                <a:latin typeface="Calibri"/>
              </a:rPr>
              <a:t>1 OBT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94B"/>
                </a:solidFill>
                <a:latin typeface="Calibri"/>
              </a:rPr>
              <a:t>DBT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14 Modeles 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Arial Black"/>
              </a:rPr>
              <a:t>STAGING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657600" cy="38404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9B5E8"/>
                </a:solidFill>
                <a:latin typeface="Calibri"/>
              </a:rPr>
              <a:t>5 modeles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stg_category — copie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stg_books — copie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stg_customers — copie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stg_ventes — date_edit -&gt;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stg_factures — date_edit -&gt;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1399032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Arial Black"/>
              </a:rPr>
              <a:t>WAREHOUSE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38404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874519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4AF0C4"/>
                </a:solidFill>
                <a:latin typeface="Calibri"/>
              </a:rPr>
              <a:t>8 modeles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dim_customers + col. NOM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dim_category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dim_books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fact_ventes + annees/mois/jour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fact_factures + annees/mois/jour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43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fact_books_annees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fact_books_mois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66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fact_books_jour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1399032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Arial Black"/>
              </a:rPr>
              <a:t>MARTS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828800"/>
            <a:ext cx="3657600" cy="38404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1874519"/>
            <a:ext cx="3474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5A623"/>
                </a:solidFill>
                <a:latin typeface="Calibri"/>
              </a:rPr>
              <a:t>1 modele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obt_sales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Jointure complete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fact_ventes + fact_factures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+ dim_category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43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+ dim_books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• + dim_customers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760720"/>
            <a:ext cx="11612880" cy="7772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5760720"/>
            <a:ext cx="54864" cy="7772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89788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8A745"/>
                </a:solidFill>
                <a:latin typeface="Calibri"/>
              </a:rPr>
              <a:t>dbt run  →  PASS=14  WARN=0  ERROR=0  —  Completed successfully  —  9.06 secondes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7CEE"/>
                </a:solidFill>
                <a:latin typeface="Calibri"/>
              </a:rPr>
              <a:t>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Orchestration du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029200" cy="50292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17CEE"/>
                </a:solidFill>
                <a:latin typeface="Calibri"/>
              </a:rPr>
              <a:t>Configuration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6B8A"/>
                </a:solidFill>
                <a:latin typeface="Calibri"/>
              </a:rPr>
              <a:t>DAG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bookshop_dbt_pipeline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95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6B8A"/>
                </a:solidFill>
                <a:latin typeface="Calibri"/>
              </a:rPr>
              <a:t>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0 6 * * * (06h00 quotidien)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712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6B8A"/>
                </a:solidFill>
                <a:latin typeface="Calibri"/>
              </a:rPr>
              <a:t>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712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1 (delai 3 minutes)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467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6B8A"/>
                </a:solidFill>
                <a:latin typeface="Calibri"/>
              </a:rPr>
              <a:t>Nb taches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467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14 BashOperator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221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6B8A"/>
                </a:solidFill>
                <a:latin typeface="Calibri"/>
              </a:rPr>
              <a:t>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221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bookshop, dbt, snowflake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6B8A"/>
                </a:solidFill>
                <a:latin typeface="Calibri"/>
              </a:rPr>
              <a:t>Acces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http://localhost:8090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6B6B8A"/>
                </a:solidFill>
                <a:latin typeface="Calibri"/>
              </a:rPr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airflow / airflow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371600"/>
            <a:ext cx="6309360" cy="50292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17CEE"/>
                </a:solidFill>
                <a:latin typeface="Calibri"/>
              </a:rPr>
              <a:t>Ordre d'Execution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920240"/>
            <a:ext cx="36576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60720" y="1938528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Arial Black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93852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dbt_debug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938528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Verification connexion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237744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697480"/>
            <a:ext cx="36576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0" y="2715768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Arial Black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71576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stg_* x5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715768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Staging en parallele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315468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474720"/>
            <a:ext cx="365760" cy="45720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3493008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Arial Black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49300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dim_* x3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493008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Dimensions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393192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4251960"/>
            <a:ext cx="365760" cy="4572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4270248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Arial Black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27024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fact_* x5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270248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Faits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4709160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5A623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5029200"/>
            <a:ext cx="365760" cy="45720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60720" y="5047488"/>
            <a:ext cx="36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Arial Black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04748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Calibri"/>
              </a:rPr>
              <a:t>obt_sales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5047488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One Big Table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C811"/>
                </a:solidFill>
                <a:latin typeface="Calibri"/>
              </a:rPr>
              <a:t>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Dashboard Analytique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43200" cy="10058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4,13M FCFA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6596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CA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743200" cy="10058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3,97M FCFA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6596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Montant encaisse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743200" cy="10058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743200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6596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Lignes de vente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743200" cy="10058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743200" cy="73152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Arial Black"/>
              </a:rPr>
              <a:t>384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6596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6B6B8A"/>
                </a:solidFill>
                <a:latin typeface="Calibri"/>
              </a:rPr>
              <a:t>Livres vendus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5176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2651760"/>
            <a:ext cx="3566160" cy="36576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2688336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Page 1 — Vue Globale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10896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KPIs + CA mensuel
+ Categories + Top livres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65176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0" y="2651760"/>
            <a:ext cx="3566160" cy="3657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2688336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Page 2 — Clients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10896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Nb clients
Top CA + Top quantite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265176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5280" y="2651760"/>
            <a:ext cx="3566160" cy="36576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80" y="2688336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Page 3 — Livres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10896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Ventes par annee
CA + Evolution mensuelle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429768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20240" y="4297680"/>
            <a:ext cx="3566160" cy="36576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20240" y="4334256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Page 4 — Factures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475488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Facture vs Paye
+ Anneau impayes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297680"/>
            <a:ext cx="3566160" cy="146304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4297680"/>
            <a:ext cx="356616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4334256"/>
            <a:ext cx="356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A0A1F"/>
                </a:solidFill>
                <a:latin typeface="Calibri"/>
              </a:rPr>
              <a:t>Page 5 — Par Jour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75488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F0F0F8"/>
                </a:solidFill>
                <a:latin typeface="Calibri"/>
              </a:rPr>
              <a:t>CA par jour
+ QTE par jour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F0C4"/>
                </a:solidFill>
                <a:latin typeface="Calibri"/>
              </a:rPr>
              <a:t>RESULTATS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Black"/>
              </a:rPr>
              <a:t>Ce que le Projet Produit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4864" cy="1737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A623"/>
                </a:solidFill>
                <a:latin typeface="Arial Black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Modeles DBT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PASS=14 WARN=0 ERROR=0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54864" cy="17373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9B5E8"/>
                </a:solidFill>
                <a:latin typeface="Arial Black"/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Lignes de vente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Sur l'annee 2024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54864" cy="173736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4AF0C4"/>
                </a:solidFill>
                <a:latin typeface="Arial Black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Livres senegalais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33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10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8328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54864" cy="173736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2C811"/>
                </a:solidFill>
                <a:latin typeface="Arial Black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Pages Power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451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Dashboard analytique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38328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06240" y="3383280"/>
            <a:ext cx="54864" cy="1737360"/>
          </a:xfrm>
          <a:prstGeom prst="rect">
            <a:avLst/>
          </a:prstGeom>
          <a:solidFill>
            <a:srgbClr val="FF6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3520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694B"/>
                </a:solidFill>
                <a:latin typeface="Arial Black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Schemas Snowflake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6451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RAW STAG WH MARTS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383280"/>
            <a:ext cx="3657600" cy="17373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3383280"/>
            <a:ext cx="54864" cy="173736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352044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17CEE"/>
                </a:solidFill>
                <a:latin typeface="Arial Black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Tables Snowflake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451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Donnees structurees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03520"/>
            <a:ext cx="11612880" cy="109728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4320" y="5303520"/>
            <a:ext cx="54864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Touche Personnelle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Pipeline Python PostgreSQL → Snowflake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Dashboard Power BI 5 pages connecte Snowflake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Presentation HTML animee deployee via Docker nginx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0F8"/>
                </a:solidFill>
                <a:latin typeface="Calibri"/>
              </a:rPr>
              <a:t>✓  GUIDE.md — documentation technique complete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F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8A"/>
                </a:solidFill>
                <a:latin typeface="Calibri"/>
              </a:rPr>
              <a:t>MASTER 2 — INTELLIGENCE ARTIFICIELLE — TECHNOLOGIE BIG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097280"/>
            <a:ext cx="853135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 dirty="0">
                <a:solidFill>
                  <a:srgbClr val="FFFFFF"/>
                </a:solidFill>
                <a:latin typeface="Arial Black"/>
              </a:rPr>
              <a:t>Merci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68880"/>
            <a:ext cx="8531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29B5E8"/>
                </a:solidFill>
                <a:latin typeface="Calibri"/>
              </a:rPr>
              <a:t>BOOKSHOP — Pipeline Big Data Complet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3474720" cy="11887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Hamady Ngansou SABALY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Etudiant M2 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200400"/>
            <a:ext cx="3474720" cy="11887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320040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79" y="33375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Ousmane SOW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3749039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Etudiant M2 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3200400"/>
            <a:ext cx="3474720" cy="118872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79" y="320040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33375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Calibri"/>
              </a:rPr>
              <a:t>Doudou Malick FAYE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749039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6B6B8A"/>
                </a:solidFill>
                <a:latin typeface="Calibri"/>
              </a:rPr>
              <a:t>Etudiant M2 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736592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Snowflake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736592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dbt 1.11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736592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Airflow 2.9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736592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Docker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736592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Power 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736592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736592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F5A623"/>
                </a:solidFill>
                <a:latin typeface="Calibri"/>
              </a:rPr>
              <a:t>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solidFill>
            <a:srgbClr val="1A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>
                <a:solidFill>
                  <a:srgbClr val="F0F0F8"/>
                </a:solidFill>
                <a:latin typeface="Calibri"/>
              </a:rPr>
              <a:t>Enseignant : Patrick NGOUNE  |  Dakar Institute of Technology  |  Annee Academique 2025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891</Words>
  <Application>Microsoft Office PowerPoint</Application>
  <PresentationFormat>Personnalisé</PresentationFormat>
  <Paragraphs>224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Ousmane Sow</cp:lastModifiedBy>
  <cp:revision>3</cp:revision>
  <dcterms:created xsi:type="dcterms:W3CDTF">2013-01-27T09:14:16Z</dcterms:created>
  <dcterms:modified xsi:type="dcterms:W3CDTF">2026-04-25T22:47:45Z</dcterms:modified>
  <cp:category/>
</cp:coreProperties>
</file>