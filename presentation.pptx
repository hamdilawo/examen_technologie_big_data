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96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736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DAKAR INSTITUTE OF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8A"/>
                </a:solidFill>
                <a:latin typeface="Calibri"/>
              </a:rPr>
              <a:t>Master 2 — Intelligence Artificielle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4630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 Black"/>
              </a:rPr>
              <a:t>BOOKSHOP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B5E8"/>
                </a:solidFill>
                <a:latin typeface="Calibri"/>
              </a:rPr>
              <a:t>Plateforme Big Data — Pipeline Complet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291840"/>
            <a:ext cx="3959352" cy="4114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333756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  <a:latin typeface="Calibri"/>
              </a:rPr>
              <a:t>Examen — Technologie Big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B5E8"/>
                </a:solidFill>
                <a:latin typeface="Calibri"/>
              </a:rPr>
              <a:t>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B5E8"/>
                </a:solidFill>
                <a:latin typeface="Calibri"/>
              </a:rPr>
              <a:t>Snowflake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94B"/>
                </a:solidFill>
                <a:latin typeface="Calibri"/>
              </a:rPr>
              <a:t>dbt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17CEE"/>
                </a:solidFill>
                <a:latin typeface="Calibri"/>
              </a:rPr>
              <a:t>Airflow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2C811"/>
                </a:solidFill>
                <a:latin typeface="Calibri"/>
              </a:rPr>
              <a:t>Power BI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34840"/>
            <a:ext cx="3474720" cy="12801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54864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8A"/>
                </a:solidFill>
                <a:latin typeface="Calibri"/>
              </a:rPr>
              <a:t>ETUDIANTS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Hamady Ngansou SABALY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Ousmane SOW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Doudou Malick FAYE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61688" y="4434840"/>
            <a:ext cx="3474720" cy="12801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61688" y="4434840"/>
            <a:ext cx="54864" cy="12801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44568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8A"/>
                </a:solidFill>
                <a:latin typeface="Calibri"/>
              </a:rPr>
              <a:t>ENSEIGNANT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4846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Patrick NGOUNE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57031" y="4434840"/>
            <a:ext cx="3474720" cy="12801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57031" y="4434840"/>
            <a:ext cx="54864" cy="128016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39912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8A"/>
                </a:solidFill>
                <a:latin typeface="Calibri"/>
              </a:rPr>
              <a:t>ANNEE ACADEMIQUE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4846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2025 — 2026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4D2211F7-2C9C-9C7F-4500-759F9BACC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" y="301752"/>
            <a:ext cx="1362456" cy="1179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Contexte &amp;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0F8"/>
                </a:solidFill>
                <a:latin typeface="Calibri"/>
              </a:rPr>
              <a:t>Une librairie senegalaise souhaite exploiter ses donnees de vente pour piloter son activite. L'objectif est de construire un pipeline Big Data end-to-end produisant des OBT (One Big Table) analytiques.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377440"/>
            <a:ext cx="219456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423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F"/>
                </a:solidFill>
                <a:latin typeface="Calibri"/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id, intitule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51760" y="2377440"/>
            <a:ext cx="2194560" cy="3657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2423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F"/>
                </a:solidFill>
                <a:latin typeface="Calibri"/>
              </a:rPr>
              <a:t>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34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id, code, intitule
isbn_10, isbn_13
category_id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0" y="2377440"/>
            <a:ext cx="2194560" cy="36576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F"/>
                </a:solidFill>
                <a:latin typeface="Calibri"/>
              </a:rPr>
              <a:t>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id, code
first_name, last_name
email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6640" y="2377440"/>
            <a:ext cx="2194560" cy="36576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2423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F"/>
                </a:solidFill>
                <a:latin typeface="Calibri"/>
              </a:rPr>
              <a:t>factures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834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id, code, vente_id
qte_totale, total_amount
total_paid, date_edit*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84080" y="2377440"/>
            <a:ext cx="2194560" cy="36576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2423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1F"/>
                </a:solidFill>
                <a:latin typeface="Calibri"/>
              </a:rPr>
              <a:t>ventes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834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id, book_id
customer_id, pu
qte, date_edit*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343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8A"/>
                </a:solidFill>
                <a:latin typeface="Calibri"/>
              </a:rPr>
              <a:t>* date_edit au format YYYYMMDD (varchar)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54880"/>
            <a:ext cx="1161288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Categories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846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Livres senegalais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46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Clients actifs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846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Lignes de vente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46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5 000 - 25 000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FCFA par livre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4846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Annee des donnees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Pipeline End-to-End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1005840" cy="822960"/>
          </a:xfrm>
          <a:prstGeom prst="rect">
            <a:avLst/>
          </a:prstGeom>
          <a:solidFill>
            <a:srgbClr val="23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BD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1828800" cy="320040"/>
          </a:xfrm>
          <a:prstGeom prst="rect">
            <a:avLst/>
          </a:prstGeom>
          <a:solidFill>
            <a:srgbClr val="23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3134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Calibri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Base locale
bookshop_local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79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371600"/>
            <a:ext cx="1005840" cy="822960"/>
          </a:xfrm>
          <a:prstGeom prst="rect">
            <a:avLst/>
          </a:prstGeom>
          <a:solidFill>
            <a:srgbClr val="3B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80" y="138988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0" y="2286000"/>
            <a:ext cx="1828800" cy="320040"/>
          </a:xfrm>
          <a:prstGeom prst="rect">
            <a:avLst/>
          </a:prstGeom>
          <a:solidFill>
            <a:srgbClr val="3B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23134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Calibri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697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Pipeline
d'ingestion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371600"/>
            <a:ext cx="1005840" cy="8229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138988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SF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06240" y="2286000"/>
            <a:ext cx="1828800" cy="3200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23134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Calibri"/>
              </a:rPr>
              <a:t>Snowflake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697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RAW
STAGGING
WAREHOUSE
MARTS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371600"/>
            <a:ext cx="1005840" cy="82296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138988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dbt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26480" y="2286000"/>
            <a:ext cx="1828800" cy="32004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23134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Calibri"/>
              </a:rPr>
              <a:t>DBT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697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14 modeles
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1371600"/>
            <a:ext cx="1005840" cy="82296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138988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AF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2286000"/>
            <a:ext cx="1828800" cy="32004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0" y="23134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Calibri"/>
              </a:rPr>
              <a:t>Airflow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697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DAG quotidien
06h00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1371600"/>
            <a:ext cx="1005840" cy="82296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78440" y="138988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BI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966960" y="2286000"/>
            <a:ext cx="1828800" cy="32004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66960" y="23134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Calibri"/>
              </a:rPr>
              <a:t>Power BI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697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Dashboard
5 pages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06240"/>
            <a:ext cx="11612880" cy="23774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Stack Technique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B5E8"/>
                </a:solidFill>
                <a:latin typeface="Calibri"/>
              </a:rPr>
              <a:t>Data Warehouse 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Snowflake Cloud — 4 schemas : RAW, STAGGING, WAREHOUSE, MARTS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102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B5E8"/>
                </a:solidFill>
                <a:latin typeface="Calibri"/>
              </a:rPr>
              <a:t>Transformation 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102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DBT Core 1.11 — 14 modeles SQL (stg_*, dim_*, fact_*, obt_*)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449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B5E8"/>
                </a:solidFill>
                <a:latin typeface="Calibri"/>
              </a:rPr>
              <a:t>Orchestration 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54498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Apache Airflow 2.9 — DAG bookshop_dbt_pipeline (Docker)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797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B5E8"/>
                </a:solidFill>
                <a:latin typeface="Calibri"/>
              </a:rPr>
              <a:t>Ingestion 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57972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Python + psycopg2 — PostgreSQL local vers Snowflake RAW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144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B5E8"/>
                </a:solidFill>
                <a:latin typeface="Calibri"/>
              </a:rPr>
              <a:t>Visualisation 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0" y="61447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Power BI Desktop — 5 pages connectees a Snowflake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B5E8"/>
                </a:solidFill>
                <a:latin typeface="Calibri"/>
              </a:rPr>
              <a:t>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4 Couches de Transformation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51760" cy="4114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399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F"/>
                </a:solidFill>
                <a:latin typeface="Arial Black"/>
              </a:rPr>
              <a:t>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Donnees brutes
category
books
customers
ventes
factures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303520"/>
            <a:ext cx="2651760" cy="3200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53218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5D4A"/>
                </a:solidFill>
                <a:latin typeface="Calibri"/>
              </a:rPr>
              <a:t>5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651760" cy="4114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1399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F"/>
                </a:solidFill>
                <a:latin typeface="Arial Black"/>
              </a:rPr>
              <a:t>STAGGING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Preparation
des donnees
stg_category
stg_books
stg_customers
stg_ventes
stg_factures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303520"/>
            <a:ext cx="2651760" cy="3200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53218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5 vues stg_*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651760" cy="4114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399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F"/>
                </a:solidFill>
                <a:latin typeface="Arial Black"/>
              </a:rPr>
              <a:t>WAREHOUSE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9202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Dimensions
et Faits
dim_customers
dim_category
dim_books
fact_ventes
fact_factures
fact_books_*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303520"/>
            <a:ext cx="2651760" cy="3200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53218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AF0C4"/>
                </a:solidFill>
                <a:latin typeface="Calibri"/>
              </a:rPr>
              <a:t>3 dim_ + 5 fact_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371600"/>
            <a:ext cx="2651760" cy="4114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1371600"/>
            <a:ext cx="2651760" cy="4572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1399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F"/>
                </a:solidFill>
                <a:latin typeface="Arial Black"/>
              </a:rPr>
              <a:t>MARTS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19202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One Big
Table
obt_sales
200 lignes
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5303520"/>
            <a:ext cx="2651760" cy="3200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53218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9B5E8"/>
                </a:solidFill>
                <a:latin typeface="Calibri"/>
              </a:rPr>
              <a:t>1 OBT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94B"/>
                </a:solidFill>
                <a:latin typeface="Calibri"/>
              </a:rPr>
              <a:t>DBT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14 Modeles 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F"/>
                </a:solidFill>
                <a:latin typeface="Arial Black"/>
              </a:rPr>
              <a:t>STAGING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657600" cy="38404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B5E8"/>
                </a:solidFill>
                <a:latin typeface="Calibri"/>
              </a:rPr>
              <a:t>5 modeles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stg_category — copie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stg_books — copie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stg_customers — copie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stg_ventes — date_edit -&gt;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stg_factures — date_edit -&gt; 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1399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F"/>
                </a:solidFill>
                <a:latin typeface="Arial Black"/>
              </a:rPr>
              <a:t>WAREHOUSE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38404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8745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C4"/>
                </a:solidFill>
                <a:latin typeface="Calibri"/>
              </a:rPr>
              <a:t>8 modeles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dim_customers + col. NOM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dim_category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dim_books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fact_ventes + annees/mois/jour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fact_factures + annees/mois/jour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43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fact_books_annees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fact_books_mois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166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fact_books_jour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1399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F"/>
                </a:solidFill>
                <a:latin typeface="Arial Black"/>
              </a:rPr>
              <a:t>MARTS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828800"/>
            <a:ext cx="3657600" cy="38404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18745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1 modele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obt_sales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Jointure complete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fact_ventes + fact_factures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+ dim_category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43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+ dim_books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• + dim_customers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760720"/>
            <a:ext cx="11612880" cy="7772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5760720"/>
            <a:ext cx="54864" cy="7772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  <a:latin typeface="Calibri"/>
              </a:rPr>
              <a:t>dbt run  →  PASS=14  WARN=0  ERROR=0  —  Completed successfully  —  9.06 secondes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CEE"/>
                </a:solidFill>
                <a:latin typeface="Calibri"/>
              </a:rPr>
              <a:t>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Orchestration du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029200" cy="50292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7CEE"/>
                </a:solidFill>
                <a:latin typeface="Calibri"/>
              </a:rPr>
              <a:t>Configuration 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8A"/>
                </a:solidFill>
                <a:latin typeface="Calibri"/>
              </a:rPr>
              <a:t>DAG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bookshop_dbt_pipeline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8A"/>
                </a:solidFill>
                <a:latin typeface="Calibri"/>
              </a:rPr>
              <a:t>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95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0 6 * * * (06h00 quotidien)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712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8A"/>
                </a:solidFill>
                <a:latin typeface="Calibri"/>
              </a:rPr>
              <a:t>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712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1 (delai 3 minutes)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467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8A"/>
                </a:solidFill>
                <a:latin typeface="Calibri"/>
              </a:rPr>
              <a:t>Nb taches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467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14 BashOperator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221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8A"/>
                </a:solidFill>
                <a:latin typeface="Calibri"/>
              </a:rPr>
              <a:t>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221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bookshop, dbt, snowflake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8A"/>
                </a:solidFill>
                <a:latin typeface="Calibri"/>
              </a:rPr>
              <a:t>Acces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http://localhost:8090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73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8A"/>
                </a:solidFill>
                <a:latin typeface="Calibri"/>
              </a:rPr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airflow / airflow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371600"/>
            <a:ext cx="6309360" cy="50292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7CEE"/>
                </a:solidFill>
                <a:latin typeface="Calibri"/>
              </a:rPr>
              <a:t>Ordre d'Execution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920240"/>
            <a:ext cx="36576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0" y="19385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Arial Black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dbt_debug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9385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Verification connexion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  <a:latin typeface="Calibr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697480"/>
            <a:ext cx="3657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0" y="2715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Arial Black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715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stg_* x5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7157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Staging en parallele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5312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  <a:latin typeface="Calibri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474720"/>
            <a:ext cx="365760" cy="45720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0" y="34930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Arial Black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49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dim_* x3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493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Dimensions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4251960"/>
            <a:ext cx="365760" cy="4572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0" y="42702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Arial Black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270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fact_* x5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270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Faits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5312" y="4709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  <a:latin typeface="Calibr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5029200"/>
            <a:ext cx="365760" cy="45720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504748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1F"/>
                </a:solidFill>
                <a:latin typeface="Arial Black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047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obt_sales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0474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One Big Table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C811"/>
                </a:solidFill>
                <a:latin typeface="Calibri"/>
              </a:rPr>
              <a:t>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Dashboard Analytique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43200" cy="10058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4,13M FCFA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8A"/>
                </a:solidFill>
                <a:latin typeface="Calibri"/>
              </a:rPr>
              <a:t>CA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743200" cy="10058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3,97M FCFA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8A"/>
                </a:solidFill>
                <a:latin typeface="Calibri"/>
              </a:rPr>
              <a:t>Montant encaisse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743200" cy="10058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743200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8A"/>
                </a:solidFill>
                <a:latin typeface="Calibri"/>
              </a:rPr>
              <a:t>Lignes de vente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743200" cy="10058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2743200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 Black"/>
              </a:rPr>
              <a:t>384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8A"/>
                </a:solidFill>
                <a:latin typeface="Calibri"/>
              </a:rPr>
              <a:t>Livres vendus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5176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2651760"/>
            <a:ext cx="3566160" cy="36576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26883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F"/>
                </a:solidFill>
                <a:latin typeface="Calibri"/>
              </a:rPr>
              <a:t>Page 1 — Vue Globale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108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KPIs + CA mensuel
+ Categories + Top livres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65176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0" y="2651760"/>
            <a:ext cx="3566160" cy="3657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26883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F"/>
                </a:solidFill>
                <a:latin typeface="Calibri"/>
              </a:rPr>
              <a:t>Page 2 — Clients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108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Nb clients
Top CA + Top quantite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265176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55280" y="2651760"/>
            <a:ext cx="3566160" cy="36576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80" y="26883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F"/>
                </a:solidFill>
                <a:latin typeface="Calibri"/>
              </a:rPr>
              <a:t>Page 3 — Livres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108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Ventes par annee
CA + Evolution mensuelle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429768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920240" y="4297680"/>
            <a:ext cx="3566160" cy="36576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20240" y="433425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F"/>
                </a:solidFill>
                <a:latin typeface="Calibri"/>
              </a:rPr>
              <a:t>Page 4 — Factures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4754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Facture vs Paye
+ Anneau impayes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29768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4297680"/>
            <a:ext cx="356616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433425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F"/>
                </a:solidFill>
                <a:latin typeface="Calibri"/>
              </a:rPr>
              <a:t>Page 5 — Par Jour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754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CA par jour
+ QTE par jour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C4"/>
                </a:solidFill>
                <a:latin typeface="Calibri"/>
              </a:rPr>
              <a:t>RESULTATS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Ce que le Projet Produit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4864" cy="1737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A623"/>
                </a:solidFill>
                <a:latin typeface="Arial Black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Modeles DBT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PASS=14 WARN=0 ERROR=0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54864" cy="17373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9B5E8"/>
                </a:solidFill>
                <a:latin typeface="Arial Black"/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Lignes de vente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Sur l'annee 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54864" cy="173736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5087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AF0C4"/>
                </a:solidFill>
                <a:latin typeface="Arial Black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Livres senegalais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10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8328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54864" cy="173736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2C811"/>
                </a:solidFill>
                <a:latin typeface="Arial Black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Pages Power 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451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Dashboard analytique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38328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06240" y="3383280"/>
            <a:ext cx="54864" cy="173736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3520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694B"/>
                </a:solidFill>
                <a:latin typeface="Arial Black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Schemas Snowflake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6451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RAW STAG WH MARTS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38328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3383280"/>
            <a:ext cx="54864" cy="173736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3520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17CEE"/>
                </a:solidFill>
                <a:latin typeface="Arial Black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Tables Snowflake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451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Donnees structurees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303520"/>
            <a:ext cx="11612880" cy="10972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4320" y="5303520"/>
            <a:ext cx="54864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Touche Personnelle 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Pipeline Python PostgreSQL → Snowflake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Dashboard Power BI 5 pages connecte Snowflake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126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Presentation HTML animee deployee via Docker nginx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6126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GUIDE.md — documentation technique complete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MASTER 2 — INTELLIGENCE ARTIFICIELLE — TECHNOLOGIE BIG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0972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 Black"/>
              </a:rPr>
              <a:t>Merci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6888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B5E8"/>
                </a:solidFill>
                <a:latin typeface="Calibri"/>
              </a:rPr>
              <a:t>BOOKSHOP — Pipeline Big Data Complet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3474720" cy="11887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Hamady Ngansou SABALY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Etudiant M2 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200400"/>
            <a:ext cx="3474720" cy="11887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320040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79" y="333756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Ousmane SOW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37490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Etudiant M2 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3200400"/>
            <a:ext cx="3474720" cy="11887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79" y="320040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9" y="333756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Doudou Malick FAYE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7490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Calibri"/>
              </a:rPr>
              <a:t>Etudiant M2 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736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Snowflake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736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dbt 1.11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736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Airflow 2.9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736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Docker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736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Power 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736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Python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4736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532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0F8"/>
                </a:solidFill>
                <a:latin typeface="Calibri"/>
              </a:rPr>
              <a:t>Enseignant : Patrick NGOUNE  |  Dakar Institute of Technology  |  Annee Academique 2025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891</Words>
  <Application>Microsoft Office PowerPoint</Application>
  <PresentationFormat>Personnalisé</PresentationFormat>
  <Paragraphs>224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Hamdy Ben Cherif SABALY</cp:lastModifiedBy>
  <cp:revision>2</cp:revision>
  <dcterms:created xsi:type="dcterms:W3CDTF">2013-01-27T09:14:16Z</dcterms:created>
  <dcterms:modified xsi:type="dcterms:W3CDTF">2026-04-24T07:34:15Z</dcterms:modified>
  <cp:category/>
</cp:coreProperties>
</file>